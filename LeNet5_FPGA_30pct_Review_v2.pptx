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19"/>
    <p:sldId id="260" r:id="rId6"/>
    <p:sldId id="261" r:id="rId7"/>
    <p:sldId id="275" r:id="rId26"/>
    <p:sldId id="269" r:id="rId20"/>
    <p:sldId id="262" r:id="rId8"/>
    <p:sldId id="263" r:id="rId9"/>
    <p:sldId id="270" r:id="rId21"/>
    <p:sldId id="271" r:id="rId22"/>
    <p:sldId id="272" r:id="rId23"/>
    <p:sldId id="273" r:id="rId24"/>
    <p:sldId id="264" r:id="rId10"/>
    <p:sldId id="265" r:id="rId11"/>
    <p:sldId id="267" r:id="rId12"/>
    <p:sldId id="276" r:id="rId27"/>
    <p:sldId id="274" r:id="rId25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FBE2D8-8A4C-484A-9431-3ABF5505C34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E6B"/>
    <a:srgbClr val="94313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8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5"/>
            <a:ext cx="11682101" cy="4434491"/>
          </a:xfrm>
          <a:prstGeom prst="rect">
            <a:avLst/>
          </a:prstGeom>
          <a:solidFill>
            <a:srgbClr val="94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232835" y="2668732"/>
            <a:ext cx="11715751" cy="2025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D3C4C3-AA97-8251-5EBC-3F64BE99E3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224" t="10307" r="17847" b="11474"/>
          <a:stretch>
            <a:fillRect/>
          </a:stretch>
        </p:blipFill>
        <p:spPr>
          <a:xfrm>
            <a:off x="4127500" y="4697276"/>
            <a:ext cx="3937000" cy="211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SzPct val="100000"/>
              <a:buFont typeface="Segoe UI" panose="020B0502040204020203" pitchFamily="34" charset="0"/>
              <a:buChar char=" "/>
              <a:defRPr sz="24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SzPct val="80000"/>
              <a:buFont typeface="Segoe UI" panose="020B0502040204020203" pitchFamily="34" charset="0"/>
              <a:buChar char=" "/>
              <a:defRPr sz="24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C8F4223-786C-0F83-E10F-908CB9077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48CEB70-9BB5-357A-1BC5-6064B09A8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66EE0F0-AD77-3B85-2EC0-110FD2A60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24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24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81FCAF1-5F9D-78F7-6D8C-668C8686F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3BCE2-C684-CF05-1149-277F4331C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C9113-26DE-7AB3-1113-5C4BBEB9E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DDF6AC0-8865-2BD1-8C30-46633F1CC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B39DBE1-2E95-0C6D-91B7-43C5F1A20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B2358E-320A-0044-5BAE-BEE907740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1" y="262784"/>
            <a:ext cx="10184446" cy="2072643"/>
          </a:xfrm>
          <a:prstGeom prst="rect">
            <a:avLst/>
          </a:prstGeom>
          <a:solidFill>
            <a:srgbClr val="94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D37FE-732B-7AA6-A0FA-E482C4CA9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49436" y="3920072"/>
            <a:ext cx="6405914" cy="1174157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dirty="0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dirty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dirty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dirty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AEC88-7EF7-36EF-11CF-AEB50ECA4A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39396" y="235034"/>
            <a:ext cx="1506082" cy="213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9431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5AA965-F908-FBF2-2382-C6B1858D50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13154" y="3130023"/>
            <a:ext cx="7052612" cy="1292692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AEFE5AD-E2CF-3449-52E4-76BF8B825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812FC84-BC68-4624-1F0E-A11682B45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8877F18-9BD0-CE3A-D851-5325FFCDD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A81554-8252-45B9-9502-30BF8A4E7E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36" t="10619" r="17639" b="11708"/>
          <a:stretch>
            <a:fillRect/>
          </a:stretch>
        </p:blipFill>
        <p:spPr>
          <a:xfrm>
            <a:off x="10163381" y="251925"/>
            <a:ext cx="1772587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30E023E-A7BB-E2BC-2A70-E8EDCE8028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37331F4-7DA3-DBDE-B9C1-59FFF3518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47E692-865E-38FA-10AE-70E9BAC98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14F3E2-E8E3-6931-A8CE-53FA6F0B5C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3969808" y="309029"/>
            <a:ext cx="4252383" cy="637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9431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935A442-9727-BE43-771D-2BFAC11EAB9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413154" y="3130023"/>
            <a:ext cx="7052612" cy="129269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9230720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76132A-1574-65DD-2584-25506E4BFE9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36" t="10619" r="17639" b="11708"/>
          <a:stretch>
            <a:fillRect/>
          </a:stretch>
        </p:blipFill>
        <p:spPr>
          <a:xfrm>
            <a:off x="10163381" y="251925"/>
            <a:ext cx="1772587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c1.png"/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s2.png"/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c3.png"/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s4.png"/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c5.png"/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f6.png"/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_fmap_output.png"/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9A1DE-2683-E267-ED00-945DC08E5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5146" y="881013"/>
            <a:ext cx="10080396" cy="1790700"/>
          </a:xfrm>
        </p:spPr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FPGA ACCELERATION OF LeNet-5</a:t>
            </a:r>
            <a:b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br>
              <a:rPr lang="en-US" dirty="0"/>
            </a:b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Template-Based Reusable-IP Design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8A5F9-0D69-EA4F-642D-B87A582C0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7889" y="2930046"/>
            <a:ext cx="9144000" cy="1287675"/>
          </a:xfrm>
        </p:spPr>
        <p:txBody>
          <a:bodyPr/>
          <a:lstStyle/>
          <a:p>
            <a:pPr algn="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 :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Abyan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Zaim- u2301010</a:t>
            </a:r>
          </a:p>
          <a:p>
            <a:pPr algn="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Amal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Zahwah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u2301037</a:t>
            </a:r>
          </a:p>
          <a:p>
            <a:pPr algn="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Amulya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Athul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-u2301039</a:t>
            </a:r>
          </a:p>
          <a:p>
            <a:pPr algn="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Aravind A Pai- u2301053</a:t>
            </a:r>
          </a:p>
        </p:txBody>
      </p:sp>
    </p:spTree>
    <p:extLst>
      <p:ext uri="{BB962C8B-B14F-4D97-AF65-F5344CB8AC3E}">
        <p14:creationId xmlns:p14="http://schemas.microsoft.com/office/powerpoint/2010/main" val="145362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Abstract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39E467-1DCF-4D57-8C52-6E314197BD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433" y="1074432"/>
            <a:ext cx="1133192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complete hardware/software pipeline for accelerating LeNet-5 handwritten-digit classification on a Xilinx Zynq-7020 FPGA (PYNQ-Z2 board).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 a template-based, reusable-IP methodology for convolution, pooling, and dense layers.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seven LeNet-5 layers are implemented as individual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Vitis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HLS cores: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convolution layers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pooling layers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fully-connected layers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cores are optimized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Line-buffer streaming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On-chip memory partitioning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Systolic processing-element (PE) arrays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786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B1D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Abstract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0421" y="1475260"/>
            <a:ext cx="10048328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seven cores are integrated into a single accelerator.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the board's ARM processor through AXI4 / AXI4-Lite.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complete place-and-routed bitstreams were generated and verified: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Float32  32-bit floating-point arithmetic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INT8  8-bit integer arithmetic with 32-bit accumulation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implementations were verified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trained weights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MNIST test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bitstreams meet the 100 MHz timing target on the actual hardware.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16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53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LeNet-5 inference as reusable, parameterized FPGA IP cores (convolution, pooling, dense), following the reference paper's template-based methodology.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and validate the paper's hardware optimization techniques: line-buffer streaming, array partitioning, and systolic PE arrays.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complete, working accelerator targeting the actual specified board  PYNQ-Z2 (Zynq-7020, xc7z020clg400-1).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Quantify the Float32 vs. INT8 trade-off with real evidence in software (accuracy) and in real synthesized hardware (resource usage, timing).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 two verified, timing-closed bitstreams (Float32 and INT8) ready for physical deployment.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34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— Software Pipeline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B55F1-FAC9-4DBE-8FEF-07044CA25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0" y="1494620"/>
            <a:ext cx="11114203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8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— Hardware Pipeline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0A2A62-B616-4588-B9D8-A1ECBB78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60" y="1363268"/>
            <a:ext cx="11293311" cy="50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0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Steps Completed — Software &amp; HLS Foundation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4B425-2678-4734-A1C3-E2B42EDB25EA}"/>
              </a:ext>
            </a:extLst>
          </p:cNvPr>
          <p:cNvSpPr txBox="1"/>
          <p:nvPr/>
        </p:nvSpPr>
        <p:spPr>
          <a:xfrm>
            <a:off x="1008668" y="1875934"/>
            <a:ext cx="10388338" cy="43740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9BC4-7F5D-4AE1-B263-D32461F190E0}"/>
              </a:ext>
            </a:extLst>
          </p:cNvPr>
          <p:cNvSpPr txBox="1"/>
          <p:nvPr/>
        </p:nvSpPr>
        <p:spPr>
          <a:xfrm>
            <a:off x="678731" y="1442301"/>
            <a:ext cx="10671142" cy="45814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 baseline (tanh + average-pool) and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MaxPool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LeNet-5 models in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Keras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(98.47% test accuracy).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manual NumPy inference for every layer from first principles; verified bit-level match against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Keras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(~1e-6 error).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a software quantization pipeline  compared Float32, Fixed16&lt;13,3&gt;, INT8, and INT4 on accuracy and memory footprint.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Implemented real integer-arithmetic (int8×int8→int32) inference in Python and verified it end-to-end against the trained model.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Implemented all 7 LeNet-5 layers as individual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Vitis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HLS IP cores: C1, S2, C3, S4, C5, F6, Output.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the reference paper's optimization techniques  line-buffer streaming, on-chip array partitioning, and 8-PE systolic arrays  reaching fully-pipelined (II=1) designs.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5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6" y="665445"/>
            <a:ext cx="9689636" cy="747763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Steps Completed — System Integration &amp; Hardware</a:t>
            </a:r>
            <a:br>
              <a:rPr lang="en-US" sz="31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4B425-2678-4734-A1C3-E2B42EDB25EA}"/>
              </a:ext>
            </a:extLst>
          </p:cNvPr>
          <p:cNvSpPr txBox="1"/>
          <p:nvPr/>
        </p:nvSpPr>
        <p:spPr>
          <a:xfrm>
            <a:off x="1008668" y="1875934"/>
            <a:ext cx="10388338" cy="43740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9BC4-7F5D-4AE1-B263-D32461F190E0}"/>
              </a:ext>
            </a:extLst>
          </p:cNvPr>
          <p:cNvSpPr txBox="1"/>
          <p:nvPr/>
        </p:nvSpPr>
        <p:spPr>
          <a:xfrm>
            <a:off x="678731" y="1442301"/>
            <a:ext cx="10671142" cy="45814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Converted all seven layers to AXI4 / AXI4-Lite interfaces for system-level integration with the processor.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Combined all 7 layers into one accelerator (lenet5_top); verified against a real MNIST image and real trained weights.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a complete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Vivado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block design: Zynq Processing System + AXI interconnect + the custom accelerator IP.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Generated and verified a real, timing-closed Float32 bitstream for the actual target board  PYNQ-Z2 (xc7z020clg400-1).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 project guide's direction: converted all 7 layers to real INT8 / INT32 hardware arithmetic, bit-exact verified against the Python reference</a:t>
            </a: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Combined all 7 INT8 layers and generated a second complete, timing-closed bitstream for PYNQ-Z2.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4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86" y="665445"/>
            <a:ext cx="9689636" cy="7477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Software Quantization Comparison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4B425-2678-4734-A1C3-E2B42EDB25EA}"/>
              </a:ext>
            </a:extLst>
          </p:cNvPr>
          <p:cNvSpPr txBox="1"/>
          <p:nvPr/>
        </p:nvSpPr>
        <p:spPr>
          <a:xfrm>
            <a:off x="1008668" y="1875934"/>
            <a:ext cx="10388338" cy="43740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9BC4-7F5D-4AE1-B263-D32461F190E0}"/>
              </a:ext>
            </a:extLst>
          </p:cNvPr>
          <p:cNvSpPr txBox="1"/>
          <p:nvPr/>
        </p:nvSpPr>
        <p:spPr>
          <a:xfrm>
            <a:off x="678731" y="1442301"/>
            <a:ext cx="10671142" cy="45814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5A541A0-2E3E-4642-89C2-9506AB091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1541"/>
              </p:ext>
            </p:extLst>
          </p:nvPr>
        </p:nvGraphicFramePr>
        <p:xfrm>
          <a:off x="2135695" y="1502090"/>
          <a:ext cx="8128000" cy="3856924"/>
        </p:xfrm>
        <a:graphic>
          <a:graphicData uri="http://schemas.openxmlformats.org/drawingml/2006/table">
            <a:tbl>
              <a:tblPr firstRow="1" bandRow="1"/>
              <a:tblGrid>
                <a:gridCol w="2032000">
                  <a:extLst>
                    <a:ext uri="{9D8B030D-6E8A-4147-A177-3AD203B41FA5}">
                      <a16:colId xmlns:a16="http://schemas.microsoft.com/office/drawing/2014/main" val="3087898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651610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52659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00683961"/>
                    </a:ext>
                  </a:extLst>
                </a:gridCol>
              </a:tblGrid>
              <a:tr h="443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Format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 Accuracy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Memory Used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Notes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686418"/>
                  </a:ext>
                </a:extLst>
              </a:tr>
              <a:tr h="527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Float32 (baseline)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98.00%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241.04 KB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Reference  no quantization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934446"/>
                  </a:ext>
                </a:extLst>
              </a:tr>
              <a:tr h="527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Fixed16 &lt;13,3&gt; (paper's format)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97.20%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120.52 KB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Fixed global scale for all layers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930573"/>
                  </a:ext>
                </a:extLst>
              </a:tr>
              <a:tr h="7572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INT8  (chosen)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98.20%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60.26 KB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Per-layer scale factor matches Float32 accuracy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00210"/>
                  </a:ext>
                </a:extLst>
              </a:tr>
              <a:tr h="7572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INT4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98.00%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30.13 KB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324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Smallest, small accuracy cost vs. INT8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244687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82CB0D-B292-4001-8070-2453680E18CD}"/>
              </a:ext>
            </a:extLst>
          </p:cNvPr>
          <p:cNvSpPr/>
          <p:nvPr/>
        </p:nvSpPr>
        <p:spPr>
          <a:xfrm>
            <a:off x="1649691" y="5580668"/>
            <a:ext cx="9021451" cy="8672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matches Float32 accuracy exactly (98.2% vs. 98.0%) while using only 25% of the memory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63976-33C2-440B-A79B-9BE292185C34}"/>
              </a:ext>
            </a:extLst>
          </p:cNvPr>
          <p:cNvSpPr txBox="1"/>
          <p:nvPr/>
        </p:nvSpPr>
        <p:spPr>
          <a:xfrm>
            <a:off x="1847654" y="5882326"/>
            <a:ext cx="8352148" cy="35821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03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5" y="891688"/>
            <a:ext cx="9689636" cy="7477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Per-Layer Hardware Comparison (Float32 → INT8)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4B425-2678-4734-A1C3-E2B42EDB25EA}"/>
              </a:ext>
            </a:extLst>
          </p:cNvPr>
          <p:cNvSpPr txBox="1"/>
          <p:nvPr/>
        </p:nvSpPr>
        <p:spPr>
          <a:xfrm>
            <a:off x="1008668" y="1875934"/>
            <a:ext cx="10388338" cy="43740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9BC4-7F5D-4AE1-B263-D32461F190E0}"/>
              </a:ext>
            </a:extLst>
          </p:cNvPr>
          <p:cNvSpPr txBox="1"/>
          <p:nvPr/>
        </p:nvSpPr>
        <p:spPr>
          <a:xfrm>
            <a:off x="678731" y="1442301"/>
            <a:ext cx="10671142" cy="45814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0923967-2C6A-4F60-8758-7A00DF372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48150"/>
              </p:ext>
            </p:extLst>
          </p:nvPr>
        </p:nvGraphicFramePr>
        <p:xfrm>
          <a:off x="867266" y="1498862"/>
          <a:ext cx="10869105" cy="4205238"/>
        </p:xfrm>
        <a:graphic>
          <a:graphicData uri="http://schemas.openxmlformats.org/drawingml/2006/table">
            <a:tbl>
              <a:tblPr firstRow="1" bandRow="1"/>
              <a:tblGrid>
                <a:gridCol w="2173821">
                  <a:extLst>
                    <a:ext uri="{9D8B030D-6E8A-4147-A177-3AD203B41FA5}">
                      <a16:colId xmlns:a16="http://schemas.microsoft.com/office/drawing/2014/main" val="731799796"/>
                    </a:ext>
                  </a:extLst>
                </a:gridCol>
                <a:gridCol w="2173821">
                  <a:extLst>
                    <a:ext uri="{9D8B030D-6E8A-4147-A177-3AD203B41FA5}">
                      <a16:colId xmlns:a16="http://schemas.microsoft.com/office/drawing/2014/main" val="1366571144"/>
                    </a:ext>
                  </a:extLst>
                </a:gridCol>
                <a:gridCol w="2173821">
                  <a:extLst>
                    <a:ext uri="{9D8B030D-6E8A-4147-A177-3AD203B41FA5}">
                      <a16:colId xmlns:a16="http://schemas.microsoft.com/office/drawing/2014/main" val="1610966332"/>
                    </a:ext>
                  </a:extLst>
                </a:gridCol>
                <a:gridCol w="2173821">
                  <a:extLst>
                    <a:ext uri="{9D8B030D-6E8A-4147-A177-3AD203B41FA5}">
                      <a16:colId xmlns:a16="http://schemas.microsoft.com/office/drawing/2014/main" val="3414362423"/>
                    </a:ext>
                  </a:extLst>
                </a:gridCol>
                <a:gridCol w="2173821">
                  <a:extLst>
                    <a:ext uri="{9D8B030D-6E8A-4147-A177-3AD203B41FA5}">
                      <a16:colId xmlns:a16="http://schemas.microsoft.com/office/drawing/2014/main" val="1168231385"/>
                    </a:ext>
                  </a:extLst>
                </a:gridCol>
              </a:tblGrid>
              <a:tr h="49143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Change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 Change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 Change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Timing (100 MHz)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069572"/>
                  </a:ext>
                </a:extLst>
              </a:tr>
              <a:tr h="696782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 (Convolution)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−14% (faster)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167441"/>
                  </a:ext>
                </a:extLst>
              </a:tr>
              <a:tr h="696782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 (Convolution)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−6% (faster)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18676"/>
                  </a:ext>
                </a:extLst>
              </a:tr>
              <a:tr h="282583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 (Pooling)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~unchanged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372015"/>
                  </a:ext>
                </a:extLst>
              </a:tr>
              <a:tr h="282583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S4 (Pooling)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−74%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~unchanged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283583"/>
                  </a:ext>
                </a:extLst>
              </a:tr>
              <a:tr h="282583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 (Dense)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−46% (faster)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1536"/>
                  </a:ext>
                </a:extLst>
              </a:tr>
              <a:tr h="282583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F6 (Dense)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−47%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−36% (faster)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101906"/>
                  </a:ext>
                </a:extLst>
              </a:tr>
              <a:tr h="491437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(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−32% (faster)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 →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64781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C15641-F6D7-4442-BCF9-BAD917B277B3}"/>
              </a:ext>
            </a:extLst>
          </p:cNvPr>
          <p:cNvSpPr/>
          <p:nvPr/>
        </p:nvSpPr>
        <p:spPr>
          <a:xfrm>
            <a:off x="1008668" y="5854046"/>
            <a:ext cx="10294070" cy="4901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 layers failed the 100 MHz timing target in Float32 — all 7 pass in INT8</a:t>
            </a:r>
            <a:endParaRPr lang="en-IN" dirty="0">
              <a:solidFill>
                <a:srgbClr val="1E8E6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DF67F-150A-4852-8D0E-21DF5CD07BCB}"/>
              </a:ext>
            </a:extLst>
          </p:cNvPr>
          <p:cNvSpPr txBox="1"/>
          <p:nvPr/>
        </p:nvSpPr>
        <p:spPr>
          <a:xfrm flipV="1">
            <a:off x="952107" y="5882326"/>
            <a:ext cx="9916998" cy="32993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17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5" y="891688"/>
            <a:ext cx="9689636" cy="7477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—Final </a:t>
            </a:r>
            <a:r>
              <a:rPr lang="en-US" b="1" dirty="0" err="1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Bitstream,Full</a:t>
            </a:r>
            <a:r>
              <a:rPr lang="en-US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System(PYNQ-Z2)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4B425-2678-4734-A1C3-E2B42EDB25EA}"/>
              </a:ext>
            </a:extLst>
          </p:cNvPr>
          <p:cNvSpPr txBox="1"/>
          <p:nvPr/>
        </p:nvSpPr>
        <p:spPr>
          <a:xfrm>
            <a:off x="1008668" y="1875934"/>
            <a:ext cx="10388338" cy="43740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9BC4-7F5D-4AE1-B263-D32461F190E0}"/>
              </a:ext>
            </a:extLst>
          </p:cNvPr>
          <p:cNvSpPr txBox="1"/>
          <p:nvPr/>
        </p:nvSpPr>
        <p:spPr>
          <a:xfrm>
            <a:off x="678731" y="1442301"/>
            <a:ext cx="10671142" cy="45814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DF67F-150A-4852-8D0E-21DF5CD07BCB}"/>
              </a:ext>
            </a:extLst>
          </p:cNvPr>
          <p:cNvSpPr txBox="1"/>
          <p:nvPr/>
        </p:nvSpPr>
        <p:spPr>
          <a:xfrm flipV="1">
            <a:off x="952107" y="5882326"/>
            <a:ext cx="9916998" cy="32993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2EFA91-DE1C-4727-86FC-72F3DC0F914A}"/>
              </a:ext>
            </a:extLst>
          </p:cNvPr>
          <p:cNvSpPr/>
          <p:nvPr/>
        </p:nvSpPr>
        <p:spPr>
          <a:xfrm>
            <a:off x="556182" y="1970202"/>
            <a:ext cx="2366128" cy="35727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LUT Usage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32</a:t>
            </a:r>
          </a:p>
          <a:p>
            <a:pPr algn="ctr"/>
            <a:r>
              <a:rPr lang="en-IN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55.3%</a:t>
            </a:r>
            <a:b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INT8</a:t>
            </a:r>
          </a:p>
          <a:p>
            <a:pPr algn="ctr"/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31.8%</a:t>
            </a:r>
          </a:p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ADA1E5-54C3-4229-98E1-821FE7D5F1F7}"/>
              </a:ext>
            </a:extLst>
          </p:cNvPr>
          <p:cNvSpPr/>
          <p:nvPr/>
        </p:nvSpPr>
        <p:spPr>
          <a:xfrm>
            <a:off x="3374794" y="1913642"/>
            <a:ext cx="2347276" cy="3572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Flip-Flop(FF)Usage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32</a:t>
            </a:r>
          </a:p>
          <a:p>
            <a:pPr algn="ctr"/>
            <a:r>
              <a:rPr lang="en-IN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38.6%</a:t>
            </a:r>
            <a:b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INT8</a:t>
            </a:r>
          </a:p>
          <a:p>
            <a:pPr algn="ctr"/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21.2%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5C832E-3093-4716-B40C-717866F33F6E}"/>
              </a:ext>
            </a:extLst>
          </p:cNvPr>
          <p:cNvSpPr/>
          <p:nvPr/>
        </p:nvSpPr>
        <p:spPr>
          <a:xfrm>
            <a:off x="6213836" y="1904214"/>
            <a:ext cx="2364558" cy="3563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On-Chip Memory (BRAM)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32</a:t>
            </a:r>
          </a:p>
          <a:p>
            <a:pPr algn="ctr"/>
            <a:r>
              <a:rPr lang="en-IN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85.4%</a:t>
            </a:r>
            <a:b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INT8</a:t>
            </a:r>
          </a:p>
          <a:p>
            <a:pPr algn="ctr"/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25.7%</a:t>
            </a:r>
          </a:p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941BF-6420-47EE-ABB6-32E461168812}"/>
              </a:ext>
            </a:extLst>
          </p:cNvPr>
          <p:cNvSpPr txBox="1"/>
          <p:nvPr/>
        </p:nvSpPr>
        <p:spPr>
          <a:xfrm>
            <a:off x="3516198" y="2516957"/>
            <a:ext cx="1894788" cy="207389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D8D60-554A-4EF5-873C-5FB24071CC12}"/>
              </a:ext>
            </a:extLst>
          </p:cNvPr>
          <p:cNvSpPr txBox="1"/>
          <p:nvPr/>
        </p:nvSpPr>
        <p:spPr>
          <a:xfrm>
            <a:off x="763571" y="2507530"/>
            <a:ext cx="1875934" cy="21116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71A50D-B907-44AA-8734-C2340EB0DD1D}"/>
              </a:ext>
            </a:extLst>
          </p:cNvPr>
          <p:cNvSpPr txBox="1"/>
          <p:nvPr/>
        </p:nvSpPr>
        <p:spPr>
          <a:xfrm>
            <a:off x="6485641" y="2837468"/>
            <a:ext cx="1734532" cy="136688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6F2FB6E-DE8E-42D9-902B-F092AC7DC568}"/>
              </a:ext>
            </a:extLst>
          </p:cNvPr>
          <p:cNvSpPr/>
          <p:nvPr/>
        </p:nvSpPr>
        <p:spPr>
          <a:xfrm>
            <a:off x="9147141" y="1820942"/>
            <a:ext cx="2364558" cy="36183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Margin (WNS)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32</a:t>
            </a:r>
          </a:p>
          <a:p>
            <a:pPr algn="ctr"/>
            <a:r>
              <a:rPr lang="en-IN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+0.033 ns</a:t>
            </a:r>
            <a:b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INT8</a:t>
            </a:r>
          </a:p>
          <a:p>
            <a:pPr algn="ctr"/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+0.121 ns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607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1728B-5B0A-3945-6564-E85CB9E4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13" y="835127"/>
            <a:ext cx="9689636" cy="7477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96E0-319C-8576-B8F3-0FE8F8F9C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9B3227-38BF-4D9F-8BB9-2302935EC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859" y="3564833"/>
            <a:ext cx="1168924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4B425-2678-4734-A1C3-E2B42EDB25EA}"/>
              </a:ext>
            </a:extLst>
          </p:cNvPr>
          <p:cNvSpPr txBox="1"/>
          <p:nvPr/>
        </p:nvSpPr>
        <p:spPr>
          <a:xfrm>
            <a:off x="1008668" y="1875934"/>
            <a:ext cx="10388338" cy="43740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B9BC4-7F5D-4AE1-B263-D32461F190E0}"/>
              </a:ext>
            </a:extLst>
          </p:cNvPr>
          <p:cNvSpPr txBox="1"/>
          <p:nvPr/>
        </p:nvSpPr>
        <p:spPr>
          <a:xfrm>
            <a:off x="678731" y="1442301"/>
            <a:ext cx="10671142" cy="45814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5CA14-6241-494A-8C19-57CFB6F2DA1B}"/>
              </a:ext>
            </a:extLst>
          </p:cNvPr>
          <p:cNvSpPr/>
          <p:nvPr/>
        </p:nvSpPr>
        <p:spPr>
          <a:xfrm>
            <a:off x="622169" y="1715550"/>
            <a:ext cx="10982227" cy="3719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the PYNQ </a:t>
            </a:r>
            <a:r>
              <a:rPr lang="en-US" sz="2400" dirty="0" err="1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Jupyter</a:t>
            </a: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Notebook interface — load the bitstream and run live inference directly from Python.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deployment and testing on real PYNQ-Z2 hardware, once board access is available.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Minor AXI bundling optimization for the combined INT8 design (separating weight/bias data paths) to recover further LUT savings.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Processing-element count sweep (PE = 1, 2, 4) to complete the resource-vs-parallelism trade-off curve.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324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testing with external, non-MNIST images on real hardware.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05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 — End to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Train: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Keras LeNet-5 (ReLU + MaxPool) trained on MNIST — 98.47% test accuracy, saved as the reference model.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Verify in software: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Manual NumPy re-implementation of every layer (conv, pool, dense) checked bit-level against Keras (~1e-6 error).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Quantize: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Float32 → Fixed16&lt;13,3&gt; → INT8 → INT4 compared on accuracy and memory; INT8 chosen (matches Float32 accuracy at 25% memory).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Port to HLS: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Each of the 7 layers written as an individual Vitis HLS C++ core, optimized (line-buffer streaming, systolic PE arrays, array partitioning) and C-sim/C-synth verified.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Convert to INT8 hardware: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layer re-implemented with genuine int8×int8→int32 MAC arithmetic and TFLite-style fixed-point requantization — no float division on the hardware critical path.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Integrate: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All 7 cores chained into one lenet5_top accelerator, connected to the processor over AXI4 / AXI4-Lite.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Build &amp; verify on silicon: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Two real, timing-closed Vivado bitstreams generated for PYNQ-Z2 (Float32 and INT8); real Vitis HLS C-simulation output checked layer-by-layer against the Python reference.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System Integration (PS–PL)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Processing System (PS):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Zynq-7020's ARM Cortex-A9 hard core — runs control software, issues input image and weight data, reads back results.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Programmable Logic (PL):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All 7 LeNet-5 layers as one combined accelerator IP (lenet5_top), built from the 7 individually-optimized HLS cores chained together.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Interconnect: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Each core's m_axi master port is fanned into one AXI Interconnect, which bridges to PS memory over S_AXI_HP0 — confirmed by direct manual wiring after Vivado's automation tool could not handle this many masters automatically.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Control path: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s_axilite interfaces expose each core's control/status registers (start, done, idle) to the PS for sequencing.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Simplification vs. the base paper: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 dedicated DMA block yet — m_axi goes straight through the interconnect to PS memory, a deliberate, documented simplification of the paper's PS ↔ DMA ↔ interconnect ↔ PL design.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Clock domain: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Single 100 MHz clock across every core, kept fixed across all experiments for a fair, apples-to-apples comparison.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Result: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Both Float32 and INT8 full-system builds meet 100 MHz timing on the real, place-and-routed PYNQ-Z2 design (WNS +0.033 ns and +0.121 ns respectively).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Deliverables (Build Order)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1 — Software foundation: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Trained Keras models (tanh+AvgPool and ReLU+MaxPool); built and bit-verified the manual NumPy layer-by-layer inference engine.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2 — Quantization study: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Built the Float32/Fixed16/INT8/INT4 comparison pipeline; implemented true integer (int8×int8→int32) inference in Python and verified it end-to-end.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3 — HLS baseline cores: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Ported all 7 layers to plain, unoptimized Vitis HLS C++ (C1, S2, C3, S4, C5, F6, Output), each with a hand-computable testbench.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4 — HLS optimization: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Applied line-buffer streaming and an 8-PE systolic array to C1; partial-sum PE splitting to C3/C5/F6; array partitioning to S2/S4 — reaching fully-pipelined (II=1) designs.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5 — System integration: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Converted every core to AXI4/AXI4-Lite; combined all 7 into lenet5_top; built and verified the first real, timing-closed Float32 PYNQ-Z2 bitstream.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6 — INT8 hardware conversion: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Converted every layer to genuine INT8/INT32 fixed-point arithmetic, each bit-exact verified against the Python reference before synthesis.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Week 7 — INT8 system &amp; hardware verification: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Combined all 7 INT8 cores, built the second timing-closed bitstream, and ran a real Vitis HLS C-simulation confirming every layer's output matches the software reference on real synthesized hardware.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— Initialisation &amp; Normalisation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Initialisation: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Input image loaded as raw 8-bit grayscale, pixel values in [0, 255] — same representation MNIST itself uses.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Polarity check: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MNIST digits are white strokes on black; a photographed digit is usually the opposite. Border-pixel mean is compared against the whole-image mean, and the image is inverted if the border is brighter: raw' = 255 − raw.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Binarisation (Otsu's method):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single background/foreground threshold t* is chosen to maximise inter-class variance σ²_b(t) = w_b(t)·w_f(t)·(μ_b(t) − μ_f(t))² over the image's own 256-bin histogram — strips JPEG noise and uneven lighting from real photos.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Bounding-box centering: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ink's bounding box is cropped, resized to fit a 20×20 box (aspect-ratio preserved, scale = 20 / max(h, w)), and centered on a blank 28×28 canvas — reproducing MNIST's own centering convention.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Normalisation: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Final pixel values scaled to [0, 1]: x_norm = x / 255.0 — identical to the normalization used during Keras training, so inference sees the same input distribution the model was trained 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 — Equations &amp; Real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INT8 dynamic quantization (weights &amp; activations):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scale = max(|x|) / 127;  q = clip(round(x / scale), −128, 127)  — data-driven per-tensor scale, not a fixed number of fractional bits.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Integer MAC accumulation (real hardware arithmetic):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acc[int32] = Σ (x_int8 × w_int8)  +  bias_int,  where bias_int = round(bias_float / (x_scale × w_scale))  — pure integer multiply-accumulate, no floats in the loop.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Requantization (TFLite / gemmlowp technique):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real_multiplier = (x_scale × w_scale) / out_scale  is split OFFLINE into a Q31 mantissa M and shift S via math.frexp(), so the hardware only computes  output = (acc × M + 2^(S−1)) &gt;&gt; S  — zero runtime float division.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Real computed results (this project):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C1 layer: M = 1,947,178,031, S = 40.  C3 layer: M = 1,301,306,386, S = 39.  Verified exact (0 mismatches) against an independent floating-point cross-check before any HLS code was written.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Why it matters in hardware: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This multiplier+shift replaces a per-pixel floating-point divide with one integer multiply and one shift — cheaper in DSP, faster in latency, and it is exactly what conv_c1_int8_fixedpoint.cpp and conv_c3_int8_fixedpoint.cpp actually synthesize.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Simulation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658708"/>
            <a:ext cx="11689240" cy="6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Manual layer-by-layer engine: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layer (conv, pool, dense, softmax) reimplemented from first principles in NumPy — no Keras/TensorFlow calls at inference time — and checked against Keras's own output: max error ~1e-6, effectively bit-exact.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True integer-arithmetic simulation: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integer_layers.py performs the actual int8×int8→int32 multiply-accumulate in Python (not float pretending to be integer) — this is the exact arithmetic later ported into the HLS kernels.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Quantization accuracy sweep: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Float32 98.00%, Fixed16&lt;13,3&gt; 97.20%, INT8 98.20%, INT4 98.00% test accuracy on the MNIST test set — INT8 matches Float32 while using only 25% of the memory.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External image testing: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test_downloaded_image.py classifies a downloaded/photographed digit end-to-end — grayscale → auto-invert → Otsu threshold → bounding-box centering → normalize — through the trained model, printing the full 10-class probability breakdown.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Purpose: </a:t>
            </a:r>
            <a:r>
              <a:rPr lang="en-US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hardware (HLS) result in this project is checked against this software reference — the software simulation is the ground truth the real synthesized hardware is proven against.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Layer-by-Layer Hardware Verification — Methodology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71" y="1450000"/>
            <a:ext cx="11689240" cy="53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What this checks: </a:t>
            </a:r>
            <a:r>
              <a:rPr lang="en-US" sz="1400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That the actual, synthesized INT8 hardware (real Vitis HLS C-simulation, not a software stand-in) matches the independent Python reference at every one of the 7 layers.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How: </a:t>
            </a:r>
            <a:r>
              <a:rPr lang="en-US" sz="1400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lenet5_top_int8 testbench runs a real MNIST image through the real HLS kernel and dumps each layer's output; compare_hls_vs_python.py checks every value against the Python reference.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Visual form: </a:t>
            </a:r>
            <a:r>
              <a:rPr lang="en-US" sz="1400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dump_feature_maps.py reshapes each layer's output back into its spatial "feature map" grid for both Python and real-HLS, rendered as heatmaps so the match is visible at a glance.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Result: </a:t>
            </a:r>
            <a:r>
              <a:rPr lang="en-US" sz="1400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C1, S2, C3, S4, C5, F6 are bit-exact (max diff = 0). Output (softmax) differs by 1.19×10⁻⁷ — 5 orders of magnitude under the 1×10⁻⁵ tolerance.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32433"/>
                </a:solidFill>
                <a:latin typeface="Times New Roman" pitchFamily="18" charset="0"/>
                <a:cs typeface="Times New Roman" pitchFamily="18" charset="0"/>
              </a:rPr>
              <a:t>Following pages: </a:t>
            </a:r>
            <a:r>
              <a:rPr lang="en-US" sz="1400" dirty="0">
                <a:solidFill>
                  <a:srgbClr val="13243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One page per layer — Python output vs. real HLS hardware output, side by side.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Per-Layer HLS Core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72871" y="1550000"/>
          <a:ext cx="11689240" cy="4640000"/>
        </p:xfrm>
        <a:graphic>
          <a:graphicData uri="http://schemas.openxmlformats.org/drawingml/2006/table">
            <a:tbl>
              <a:tblPr firstRow="1" bandRow="1"/>
              <a:tblGrid>
                <a:gridCol w="1200000"/>
                <a:gridCol w="2300000"/>
                <a:gridCol w="3900000"/>
                <a:gridCol w="2600000"/>
                <a:gridCol w="1689240"/>
              </a:tblGrid>
              <a:tr h="5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Layer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Function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 Technique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 / Parallelism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Achieved II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5×5 Conv, 1→6 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Line-buffer streaming + 8-PE systolic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 PE (time-multiplexed)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4</a:t>
                      </a:r>
                    </a:p>
                  </a:txBody>
                  <a:tcPr anchor="ctr"/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2×2 MaxPool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Cyclic array partition (factor 2, dims 1/2)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Fully parallel compare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1</a:t>
                      </a:r>
                    </a:p>
                  </a:txBody>
                  <a:tcPr anchor="ctr"/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5×5 Conv, 6→16 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Partial-sum PE split + LUT-based index 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 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3–4</a:t>
                      </a:r>
                    </a:p>
                  </a:txBody>
                  <a:tcPr anchor="ctr"/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2×2 MaxPool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Same array-partition fix as S2 (proven, reused)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Fully parallel compare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1</a:t>
                      </a:r>
                    </a:p>
                  </a:txBody>
                  <a:tcPr anchor="ctr"/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Dense 400→120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Partial-sum PE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 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2–4</a:t>
                      </a:r>
                    </a:p>
                  </a:txBody>
                  <a:tcPr anchor="ctr"/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Dense 120→84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Partial-sum PE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 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2–4</a:t>
                      </a:r>
                    </a:p>
                  </a:txBody>
                  <a:tcPr anchor="ctr"/>
                </a:tc>
              </a:tr>
              <a:tr h="5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Dense 84→10 + Softmax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Two-stage: int MAC (Stage 1) + float softmax (Stage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 PE (Stage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= 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— Output at Each Pipeline Stage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72871" y="1450000"/>
          <a:ext cx="11689240" cy="5580000"/>
        </p:xfrm>
        <a:graphic>
          <a:graphicData uri="http://schemas.openxmlformats.org/drawingml/2006/table">
            <a:tbl>
              <a:tblPr firstRow="1" bandRow="1"/>
              <a:tblGrid>
                <a:gridCol w="3400000"/>
                <a:gridCol w="8289240"/>
              </a:tblGrid>
              <a:tr h="6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Pipeline Stage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Deliverable Produced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MNIST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60,000 train / 10,000 test images loaded and preprocessed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Keras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Trained ReLU+MaxPool model, 98.47% test accuracy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Manual NumPy 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Bit-level match vs. Keras (~1e-6 error), every layer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Quantization sweep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INT8 selected — matches Float32 accuracy at 25% memory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HLS IP cores (×7)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 individually synthesized, timing-closed hardware cores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Combined lenet5_top accelerator, verified on a real image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Vivado bitstream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 real, place-and-routed bitstreams (Float32 + INT8), PYNQ-Z2</a:t>
                      </a:r>
                    </a:p>
                  </a:txBody>
                  <a:tcPr anchor="ctr"/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Real HLS C-sim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Real hardware output, 6/7 layers bit-exact vs. Python (Output: 1.19e-7)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C1 (Convolution)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6 channels, all bit-exact (max |Δ| = 0) against the real Vitis HLS C-simulation output.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S2 (Max-Pooling)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6 channels, bit-exact against the real HLS output.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C3 (Convolution)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16 channels, bit-exact against the real HLS output.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S4 (Max-Pooling)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16 channels, bit-exact against the real HLS output.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C5 (Dense)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120 values, bit-exact against the real HLS output.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F6 (Dense)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84 values, bit-exact against the real HLS output.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Verification — Output (Softmax)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1350000"/>
            <a:ext cx="10692000" cy="4950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8859" y="6420000"/>
            <a:ext cx="1150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i="1" dirty="0">
                <a:solidFill>
                  <a:srgbClr val="132433"/>
                </a:solidFill>
                <a:latin typeface="Times New Roman" pitchFamily="18" charset="0"/>
              </a:rPr>
              <a:t>10 class probabilities; max |Δ| = 1.19×10⁻⁷, within the 1×10⁻⁵ tolerance (expected float softmax rounding).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2025" id="{E06E7927-F445-468A-B871-BC17F95BD626}" vid="{A10D1BB8-A146-4C3D-8526-3478B5256F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8910</TotalTime>
  <Words>930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Segoe UI</vt:lpstr>
      <vt:lpstr>Segoe UI Light</vt:lpstr>
      <vt:lpstr>Times New Roman</vt:lpstr>
      <vt:lpstr>Get Started with 3D</vt:lpstr>
      <vt:lpstr>FPGA ACCELERATION OF LeNet-5  A Template-Based Reusable-IP Design </vt:lpstr>
      <vt:lpstr>Abstract </vt:lpstr>
      <vt:lpstr>Abstract</vt:lpstr>
      <vt:lpstr>Objective</vt:lpstr>
      <vt:lpstr>Block Diagram — Software Pipeline </vt:lpstr>
      <vt:lpstr>Block Diagram — Hardware Pipeline </vt:lpstr>
      <vt:lpstr>30% Steps Completed — Software &amp; HLS Foundation </vt:lpstr>
      <vt:lpstr>30% Steps Completed — System Integration &amp; Hardware  </vt:lpstr>
      <vt:lpstr>Results — Software Quantization Comparison  </vt:lpstr>
      <vt:lpstr>Results — Per-Layer Hardware Comparison (Float32 → INT8)   </vt:lpstr>
      <vt:lpstr>Results —Final Bitstream,Full System(PYNQ-Z2)   </vt:lpstr>
      <vt:lpstr>Remaining Work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ACCELERATION OF LeNet-5  A Template-Based Reusable-IP Design [ Float32 vs. INT8 on PYNQ-Z2]</dc:title>
  <dc:creator>BONIFUS P L</dc:creator>
  <cp:lastModifiedBy>delulu dianz</cp:lastModifiedBy>
  <cp:revision>315</cp:revision>
  <dcterms:created xsi:type="dcterms:W3CDTF">2025-06-12T05:27:30Z</dcterms:created>
  <dcterms:modified xsi:type="dcterms:W3CDTF">2026-09-22T08:06:26Z</dcterms:modified>
</cp:coreProperties>
</file>