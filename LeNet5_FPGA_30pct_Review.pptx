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5120640"/>
            <a:ext cx="731520" cy="274320"/>
          </a:xfrm>
          <a:prstGeom prst="line">
            <a:avLst/>
          </a:prstGeom>
          <a:noFill/>
          <a:ln w="15875">
            <a:solidFill>
              <a:srgbClr val="1E4E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424160" y="5029200"/>
            <a:ext cx="731520" cy="365760"/>
          </a:xfrm>
          <a:prstGeom prst="line">
            <a:avLst/>
          </a:prstGeom>
          <a:noFill/>
          <a:ln w="15875">
            <a:solidFill>
              <a:srgbClr val="1E4E8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058400" y="5029200"/>
            <a:ext cx="1097280" cy="914400"/>
          </a:xfrm>
          <a:prstGeom prst="line">
            <a:avLst/>
          </a:prstGeom>
          <a:noFill/>
          <a:ln w="15875">
            <a:solidFill>
              <a:srgbClr val="1E4E8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058400" y="5943600"/>
            <a:ext cx="1280160" cy="91440"/>
          </a:xfrm>
          <a:prstGeom prst="line">
            <a:avLst/>
          </a:prstGeom>
          <a:noFill/>
          <a:ln w="15875">
            <a:solidFill>
              <a:srgbClr val="1E4E8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326880" y="6035040"/>
            <a:ext cx="2011680" cy="182880"/>
          </a:xfrm>
          <a:prstGeom prst="line">
            <a:avLst/>
          </a:prstGeom>
          <a:noFill/>
          <a:ln w="15875">
            <a:solidFill>
              <a:srgbClr val="1E4E8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646920" y="5074920"/>
            <a:ext cx="91440" cy="91440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8" name="Shape 6"/>
          <p:cNvSpPr/>
          <p:nvPr/>
        </p:nvSpPr>
        <p:spPr>
          <a:xfrm>
            <a:off x="10378440" y="5349240"/>
            <a:ext cx="91440" cy="91440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9" name="Shape 7"/>
          <p:cNvSpPr/>
          <p:nvPr/>
        </p:nvSpPr>
        <p:spPr>
          <a:xfrm>
            <a:off x="11109960" y="4983480"/>
            <a:ext cx="91440" cy="91440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10" name="Shape 8"/>
          <p:cNvSpPr/>
          <p:nvPr/>
        </p:nvSpPr>
        <p:spPr>
          <a:xfrm>
            <a:off x="10012680" y="5897880"/>
            <a:ext cx="91440" cy="91440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11" name="Shape 9"/>
          <p:cNvSpPr/>
          <p:nvPr/>
        </p:nvSpPr>
        <p:spPr>
          <a:xfrm>
            <a:off x="11292840" y="5989320"/>
            <a:ext cx="91440" cy="91440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12" name="Shape 10"/>
          <p:cNvSpPr/>
          <p:nvPr/>
        </p:nvSpPr>
        <p:spPr>
          <a:xfrm>
            <a:off x="9281160" y="6172200"/>
            <a:ext cx="91440" cy="91440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22960" y="228600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FPGA ACCELERATION OF LeNet-5</a:t>
            </a:r>
            <a:endParaRPr lang="en-US" sz="40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32461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CF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Template-Based Reusable-IP Design — Float32 vs. INT8 on PYNQ-Z2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822960" y="4023360"/>
            <a:ext cx="2377440" cy="457200"/>
          </a:xfrm>
          <a:prstGeom prst="roundRect">
            <a:avLst>
              <a:gd name="adj" fmla="val 16000"/>
            </a:avLst>
          </a:prstGeom>
          <a:solidFill>
            <a:srgbClr val="00C2A8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2960" y="40233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 PROJECT REVIEW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Abstract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11091672" cy="420624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9AAAB8">
                <a:alpha val="25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914400" y="1691640"/>
            <a:ext cx="10360152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3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implements a complete hardware/software pipeline that accelerates LeNet-5 handwritten-digit classification on a Xilinx Zynq-7020 FPGA (PYNQ-Z2 board), following a </a:t>
            </a:r>
            <a:pPr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template-based, reusable-IP methodology</a:t>
            </a:r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3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convolution, pooling, and dense layers.
</a:t>
            </a:r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3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seven layers of LeNet-5 — two convolution, two pooling, and three fully-connected layers — were implemented as individual Vitis HLS cores, optimized using </a:t>
            </a:r>
            <a:pPr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line-buffer streaming, on-chip memory partitioning, and systolic processing-element arrays</a:t>
            </a:r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3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then integrated into a single accelerator connected to the board's ARM processor over AXI4 / AXI4-Lite.
</a:t>
            </a:r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3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complete, real, place-and-routed bitstreams were generated and verified for the actual target board: one using standard 32-bit floating-point arithmetic, and one using genuine </a:t>
            </a:r>
            <a:pPr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8-bit integer (INT8) arithmetic with 32-bit accumulation</a:t>
            </a:r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3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Both were verified for correctness against real trained weights and a real MNIST test image, and both meet the design's 100 MHz timing target on hardware.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508760"/>
            <a:ext cx="502920" cy="502920"/>
          </a:xfrm>
          <a:prstGeom prst="ellipse">
            <a:avLst/>
          </a:prstGeom>
          <a:solidFill>
            <a:srgbClr val="13315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508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1371600" y="1463040"/>
            <a:ext cx="101772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3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LeNet-5 inference as reusable, parameterized FPGA IP cores (convolution, pooling, dense), following the reference paper's template-based methodology.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423160"/>
            <a:ext cx="502920" cy="502920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0080" y="2423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2377440"/>
            <a:ext cx="101772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3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and validate the paper's hardware optimization techniques: line-buffer streaming, array partitioning, and systolic PE arrays.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3337560"/>
            <a:ext cx="502920" cy="502920"/>
          </a:xfrm>
          <a:prstGeom prst="ellipse">
            <a:avLst/>
          </a:prstGeom>
          <a:solidFill>
            <a:srgbClr val="13315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0080" y="3337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1371600" y="3291840"/>
            <a:ext cx="101772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3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complete, working accelerator targeting the actual specified board — PYNQ-Z2 (Zynq-7020, xc7z020clg400-1).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40080" y="4251960"/>
            <a:ext cx="502920" cy="502920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4251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1371600" y="4206240"/>
            <a:ext cx="101772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3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Quantify the Float32 vs. INT8 trade-off with real evidence — in software (accuracy) and in real synthesized hardware (resource usage, timing).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40080" y="5166360"/>
            <a:ext cx="502920" cy="502920"/>
          </a:xfrm>
          <a:prstGeom prst="ellipse">
            <a:avLst/>
          </a:prstGeom>
          <a:solidFill>
            <a:srgbClr val="13315C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0080" y="5166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1371600" y="5120640"/>
            <a:ext cx="101772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3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two verified, timing-closed bitstreams (Float32 and INT8) ready for physical deployment.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Block Diagram — Software Pipeline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training, correctness verification, and quantization analysis (Python / TensorFlow-Keras)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286000" cy="822960"/>
          </a:xfrm>
          <a:prstGeom prst="roundRect">
            <a:avLst>
              <a:gd name="adj" fmla="val 8889"/>
            </a:avLst>
          </a:prstGeom>
          <a:solidFill>
            <a:srgbClr val="0B1D3A"/>
          </a:solidFill>
          <a:ln/>
          <a:effectLst>
            <a:outerShdw sx="100000" sy="100000" kx="0" ky="0" algn="bl" rotWithShape="0" blurRad="76200" dist="25400" dir="5400000">
              <a:srgbClr val="9AAAB8">
                <a:alpha val="3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548640" y="1828800"/>
            <a:ext cx="2286000" cy="8229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MNIST Dataset</a:t>
            </a:r>
            <a:endParaRPr lang="en-US" sz="12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(60,000 train / 10,000 test)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2834640" y="182880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154680" y="1828800"/>
            <a:ext cx="2468880" cy="822960"/>
          </a:xfrm>
          <a:prstGeom prst="roundRect">
            <a:avLst>
              <a:gd name="adj" fmla="val 8889"/>
            </a:avLst>
          </a:prstGeom>
          <a:solidFill>
            <a:srgbClr val="13315C"/>
          </a:solidFill>
          <a:ln/>
          <a:effectLst>
            <a:outerShdw sx="100000" sy="100000" kx="0" ky="0" algn="bl" rotWithShape="0" blurRad="76200" dist="25400" dir="5400000">
              <a:srgbClr val="9AAAB8">
                <a:alpha val="30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3154680" y="1828800"/>
            <a:ext cx="2468880" cy="8229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Keras / TensorFlow Training</a:t>
            </a:r>
            <a:endParaRPr lang="en-US" sz="12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(ReLU + MaxPool LeNet-5, 98.47% acc.)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5623560" y="182880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5943600" y="1828800"/>
            <a:ext cx="2377440" cy="822960"/>
          </a:xfrm>
          <a:prstGeom prst="roundRect">
            <a:avLst>
              <a:gd name="adj" fmla="val 8889"/>
            </a:avLst>
          </a:prstGeom>
          <a:solidFill>
            <a:srgbClr val="13315C"/>
          </a:solidFill>
          <a:ln/>
          <a:effectLst>
            <a:outerShdw sx="100000" sy="100000" kx="0" ky="0" algn="bl" rotWithShape="0" blurRad="76200" dist="25400" dir="5400000">
              <a:srgbClr val="9AAAB8">
                <a:alpha val="30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5943600" y="1828800"/>
            <a:ext cx="2377440" cy="8229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Model</a:t>
            </a:r>
            <a:endParaRPr lang="en-US" sz="12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 (float32)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6858000" y="269748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2651760" y="3337560"/>
            <a:ext cx="4206240" cy="822960"/>
          </a:xfrm>
          <a:prstGeom prst="roundRect">
            <a:avLst>
              <a:gd name="adj" fmla="val 8889"/>
            </a:avLst>
          </a:prstGeom>
          <a:solidFill>
            <a:srgbClr val="00C2A8"/>
          </a:solidFill>
          <a:ln/>
          <a:effectLst>
            <a:outerShdw sx="100000" sy="100000" kx="0" ky="0" algn="bl" rotWithShape="0" blurRad="76200" dist="25400" dir="5400000">
              <a:srgbClr val="9AAAB8">
                <a:alpha val="30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2651760" y="3337560"/>
            <a:ext cx="4206240" cy="8229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NumPy Inference</a:t>
            </a:r>
            <a:endParaRPr lang="en-US" sz="12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(bit-level verified vs. Keras, ~1e-6 error)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7406640" y="3337560"/>
            <a:ext cx="4206240" cy="822960"/>
          </a:xfrm>
          <a:prstGeom prst="roundRect">
            <a:avLst>
              <a:gd name="adj" fmla="val 8889"/>
            </a:avLst>
          </a:prstGeom>
          <a:solidFill>
            <a:srgbClr val="00C2A8"/>
          </a:solidFill>
          <a:ln/>
          <a:effectLst>
            <a:outerShdw sx="100000" sy="100000" kx="0" ky="0" algn="bl" rotWithShape="0" blurRad="76200" dist="25400" dir="5400000">
              <a:srgbClr val="9AAAB8">
                <a:alpha val="30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7406640" y="3337560"/>
            <a:ext cx="4206240" cy="8229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Quantization Comparison</a:t>
            </a:r>
            <a:endParaRPr lang="en-US" sz="12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(Float32 / Fixed16 / INT8 / INT4 — accuracy &amp; memory)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4480560" y="42062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9235440" y="42062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4160520" y="4709160"/>
            <a:ext cx="5943600" cy="685800"/>
          </a:xfrm>
          <a:prstGeom prst="roundRect">
            <a:avLst>
              <a:gd name="adj" fmla="val 10667"/>
            </a:avLst>
          </a:prstGeom>
          <a:solidFill>
            <a:srgbClr val="0B1D3A"/>
          </a:solidFill>
          <a:ln/>
          <a:effectLst>
            <a:outerShdw sx="100000" sy="100000" kx="0" ky="0" algn="bl" rotWithShape="0" blurRad="76200" dist="25400" dir="5400000">
              <a:srgbClr val="9AAAB8">
                <a:alpha val="30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4160520" y="4709160"/>
            <a:ext cx="5943600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INT8-Quantized Weights  (.npy / .dat, exported for HLS testbenches)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Block Diagram — Hardware Pipeline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Seven-layer accelerator core, integrated with the Zynq Processing System (Vitis HLS + Vivado)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22960" y="2286000"/>
            <a:ext cx="9692640" cy="1554480"/>
          </a:xfrm>
          <a:prstGeom prst="roundRect">
            <a:avLst>
              <a:gd name="adj" fmla="val 5882"/>
            </a:avLst>
          </a:prstGeom>
          <a:solidFill>
            <a:srgbClr val="E9F2FB"/>
          </a:solidFill>
          <a:ln w="19050">
            <a:solidFill>
              <a:srgbClr val="13315C"/>
            </a:solidFill>
            <a:prstDash val="dash"/>
          </a:ln>
        </p:spPr>
      </p:sp>
      <p:sp>
        <p:nvSpPr>
          <p:cNvPr id="5" name="Text 3"/>
          <p:cNvSpPr txBox="1"/>
          <p:nvPr/>
        </p:nvSpPr>
        <p:spPr>
          <a:xfrm>
            <a:off x="960120" y="193852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Accelerator IP  (Vitis HLS)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604772" y="2628900"/>
            <a:ext cx="1051560" cy="868680"/>
          </a:xfrm>
          <a:prstGeom prst="roundRect">
            <a:avLst>
              <a:gd name="adj" fmla="val 8421"/>
            </a:avLst>
          </a:prstGeom>
          <a:solidFill>
            <a:srgbClr val="13315C"/>
          </a:solidFill>
          <a:ln/>
          <a:effectLst>
            <a:outerShdw sx="100000" sy="100000" kx="0" ky="0" algn="bl" rotWithShape="0" blurRad="76200" dist="25400" dir="5400000">
              <a:srgbClr val="9AAAB8">
                <a:alpha val="30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1604772" y="2628900"/>
            <a:ext cx="1051560" cy="8686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</a:t>
            </a:r>
            <a:endParaRPr lang="en-US" sz="11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2656332" y="2862072"/>
            <a:ext cx="1280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784348" y="2628900"/>
            <a:ext cx="1051560" cy="868680"/>
          </a:xfrm>
          <a:prstGeom prst="roundRect">
            <a:avLst>
              <a:gd name="adj" fmla="val 8421"/>
            </a:avLst>
          </a:prstGeom>
          <a:solidFill>
            <a:srgbClr val="00C2A8"/>
          </a:solidFill>
          <a:ln/>
          <a:effectLst>
            <a:outerShdw sx="100000" sy="100000" kx="0" ky="0" algn="bl" rotWithShape="0" blurRad="76200" dist="25400" dir="5400000">
              <a:srgbClr val="9AAAB8">
                <a:alpha val="30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2784348" y="2628900"/>
            <a:ext cx="1051560" cy="8686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</a:t>
            </a:r>
            <a:endParaRPr lang="en-US" sz="11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3835908" y="2862072"/>
            <a:ext cx="1280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963924" y="2628900"/>
            <a:ext cx="1051560" cy="868680"/>
          </a:xfrm>
          <a:prstGeom prst="roundRect">
            <a:avLst>
              <a:gd name="adj" fmla="val 8421"/>
            </a:avLst>
          </a:prstGeom>
          <a:solidFill>
            <a:srgbClr val="13315C"/>
          </a:solidFill>
          <a:ln/>
          <a:effectLst>
            <a:outerShdw sx="100000" sy="100000" kx="0" ky="0" algn="bl" rotWithShape="0" blurRad="76200" dist="25400" dir="5400000">
              <a:srgbClr val="9AAAB8">
                <a:alpha val="30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3963924" y="2628900"/>
            <a:ext cx="1051560" cy="8686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C3</a:t>
            </a:r>
            <a:endParaRPr lang="en-US" sz="11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5015484" y="2862072"/>
            <a:ext cx="1280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143500" y="2628900"/>
            <a:ext cx="1051560" cy="868680"/>
          </a:xfrm>
          <a:prstGeom prst="roundRect">
            <a:avLst>
              <a:gd name="adj" fmla="val 8421"/>
            </a:avLst>
          </a:prstGeom>
          <a:solidFill>
            <a:srgbClr val="00C2A8"/>
          </a:solidFill>
          <a:ln/>
          <a:effectLst>
            <a:outerShdw sx="100000" sy="100000" kx="0" ky="0" algn="bl" rotWithShape="0" blurRad="76200" dist="25400" dir="5400000">
              <a:srgbClr val="9AAAB8">
                <a:alpha val="30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5143500" y="2628900"/>
            <a:ext cx="1051560" cy="8686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S4</a:t>
            </a:r>
            <a:endParaRPr lang="en-US" sz="11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6195060" y="2862072"/>
            <a:ext cx="1280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323076" y="2628900"/>
            <a:ext cx="1051560" cy="868680"/>
          </a:xfrm>
          <a:prstGeom prst="roundRect">
            <a:avLst>
              <a:gd name="adj" fmla="val 8421"/>
            </a:avLst>
          </a:prstGeom>
          <a:solidFill>
            <a:srgbClr val="13315C"/>
          </a:solidFill>
          <a:ln/>
          <a:effectLst>
            <a:outerShdw sx="100000" sy="100000" kx="0" ky="0" algn="bl" rotWithShape="0" blurRad="76200" dist="25400" dir="5400000">
              <a:srgbClr val="9AAAB8">
                <a:alpha val="30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6323076" y="2628900"/>
            <a:ext cx="1051560" cy="8686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C5</a:t>
            </a:r>
            <a:endParaRPr lang="en-US" sz="11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7374636" y="2862072"/>
            <a:ext cx="1280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7502652" y="2628900"/>
            <a:ext cx="1051560" cy="868680"/>
          </a:xfrm>
          <a:prstGeom prst="roundRect">
            <a:avLst>
              <a:gd name="adj" fmla="val 8421"/>
            </a:avLst>
          </a:prstGeom>
          <a:solidFill>
            <a:srgbClr val="13315C"/>
          </a:solidFill>
          <a:ln/>
          <a:effectLst>
            <a:outerShdw sx="100000" sy="100000" kx="0" ky="0" algn="bl" rotWithShape="0" blurRad="76200" dist="25400" dir="5400000">
              <a:srgbClr val="9AAAB8">
                <a:alpha val="30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7502652" y="2628900"/>
            <a:ext cx="1051560" cy="8686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F6</a:t>
            </a:r>
            <a:endParaRPr lang="en-US" sz="11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8554212" y="2862072"/>
            <a:ext cx="1280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8682228" y="2628900"/>
            <a:ext cx="1051560" cy="868680"/>
          </a:xfrm>
          <a:prstGeom prst="roundRect">
            <a:avLst>
              <a:gd name="adj" fmla="val 8421"/>
            </a:avLst>
          </a:prstGeom>
          <a:solidFill>
            <a:srgbClr val="00947F"/>
          </a:solidFill>
          <a:ln/>
          <a:effectLst>
            <a:outerShdw sx="100000" sy="100000" kx="0" ky="0" algn="bl" rotWithShape="0" blurRad="76200" dist="25400" dir="5400000">
              <a:srgbClr val="9AAAB8">
                <a:alpha val="30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8682228" y="2628900"/>
            <a:ext cx="1051560" cy="8686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1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Softmax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5720" y="2697480"/>
            <a:ext cx="1051560" cy="731520"/>
          </a:xfrm>
          <a:prstGeom prst="roundRect">
            <a:avLst>
              <a:gd name="adj" fmla="val 10000"/>
            </a:avLst>
          </a:prstGeom>
          <a:solidFill>
            <a:srgbClr val="0B1D3A"/>
          </a:solidFill>
          <a:ln/>
          <a:effectLst>
            <a:outerShdw sx="100000" sy="100000" kx="0" ky="0" algn="bl" rotWithShape="0" blurRad="76200" dist="25400" dir="5400000">
              <a:srgbClr val="9AAAB8">
                <a:alpha val="30000"/>
              </a:srgbClr>
            </a:outerShdw>
          </a:effectLst>
        </p:spPr>
      </p:sp>
      <p:sp>
        <p:nvSpPr>
          <p:cNvPr id="27" name="Text 25"/>
          <p:cNvSpPr txBox="1"/>
          <p:nvPr/>
        </p:nvSpPr>
        <p:spPr>
          <a:xfrm>
            <a:off x="45720" y="2697480"/>
            <a:ext cx="105156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1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</a:t>
            </a:r>
            <a:endParaRPr lang="en-US" sz="11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28×28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1097280" y="2862072"/>
            <a:ext cx="365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10561320" y="2862072"/>
            <a:ext cx="365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10927080" y="2697480"/>
            <a:ext cx="1188720" cy="731520"/>
          </a:xfrm>
          <a:prstGeom prst="roundRect">
            <a:avLst>
              <a:gd name="adj" fmla="val 10000"/>
            </a:avLst>
          </a:prstGeom>
          <a:solidFill>
            <a:srgbClr val="0B1D3A"/>
          </a:solidFill>
          <a:ln/>
          <a:effectLst>
            <a:outerShdw sx="100000" sy="100000" kx="0" ky="0" algn="bl" rotWithShape="0" blurRad="76200" dist="25400" dir="5400000">
              <a:srgbClr val="9AAAB8">
                <a:alpha val="30000"/>
              </a:srgbClr>
            </a:outerShdw>
          </a:effectLst>
        </p:spPr>
      </p:sp>
      <p:sp>
        <p:nvSpPr>
          <p:cNvPr id="31" name="Text 29"/>
          <p:cNvSpPr txBox="1"/>
          <p:nvPr/>
        </p:nvSpPr>
        <p:spPr>
          <a:xfrm>
            <a:off x="10927080" y="2697480"/>
            <a:ext cx="118872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</a:t>
            </a:r>
            <a:endParaRPr lang="en-US" sz="11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</a:t>
            </a:r>
            <a:endParaRPr lang="en-US" sz="11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(0–9)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822960" y="3977640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↕  AXI4  /  AXI4-Lite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365760" y="4480560"/>
            <a:ext cx="4206240" cy="777240"/>
          </a:xfrm>
          <a:prstGeom prst="roundRect">
            <a:avLst>
              <a:gd name="adj" fmla="val 9412"/>
            </a:avLst>
          </a:prstGeom>
          <a:solidFill>
            <a:srgbClr val="0B1D3A"/>
          </a:solidFill>
          <a:ln/>
          <a:effectLst>
            <a:outerShdw sx="100000" sy="100000" kx="0" ky="0" algn="bl" rotWithShape="0" blurRad="76200" dist="25400" dir="5400000">
              <a:srgbClr val="9AAAB8">
                <a:alpha val="30000"/>
              </a:srgbClr>
            </a:outerShdw>
          </a:effectLst>
        </p:spPr>
      </p:sp>
      <p:sp>
        <p:nvSpPr>
          <p:cNvPr id="34" name="Text 32"/>
          <p:cNvSpPr txBox="1"/>
          <p:nvPr/>
        </p:nvSpPr>
        <p:spPr>
          <a:xfrm>
            <a:off x="365760" y="4480560"/>
            <a:ext cx="4206240" cy="7772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Zynq-7 Processing System</a:t>
            </a:r>
            <a:endParaRPr lang="en-US" sz="12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(ARM Cortex-A9)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5029200" y="4480560"/>
            <a:ext cx="2743200" cy="777240"/>
          </a:xfrm>
          <a:prstGeom prst="roundRect">
            <a:avLst>
              <a:gd name="adj" fmla="val 9412"/>
            </a:avLst>
          </a:prstGeom>
          <a:solidFill>
            <a:srgbClr val="0B1D3A"/>
          </a:solidFill>
          <a:ln/>
          <a:effectLst>
            <a:outerShdw sx="100000" sy="100000" kx="0" ky="0" algn="bl" rotWithShape="0" blurRad="76200" dist="25400" dir="5400000">
              <a:srgbClr val="9AAAB8">
                <a:alpha val="30000"/>
              </a:srgbClr>
            </a:outerShdw>
          </a:effectLst>
        </p:spPr>
      </p:sp>
      <p:sp>
        <p:nvSpPr>
          <p:cNvPr id="36" name="Text 34"/>
          <p:cNvSpPr txBox="1"/>
          <p:nvPr/>
        </p:nvSpPr>
        <p:spPr>
          <a:xfrm>
            <a:off x="5029200" y="4480560"/>
            <a:ext cx="2743200" cy="7772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DDR Memory</a:t>
            </a:r>
            <a:endParaRPr lang="en-US" sz="12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(weights / activations)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8229600" y="4480560"/>
            <a:ext cx="2743200" cy="777240"/>
          </a:xfrm>
          <a:prstGeom prst="roundRect">
            <a:avLst>
              <a:gd name="adj" fmla="val 9412"/>
            </a:avLst>
          </a:prstGeom>
          <a:solidFill>
            <a:srgbClr val="00C2A8"/>
          </a:solidFill>
          <a:ln/>
          <a:effectLst>
            <a:outerShdw sx="100000" sy="100000" kx="0" ky="0" algn="bl" rotWithShape="0" blurRad="76200" dist="25400" dir="5400000">
              <a:srgbClr val="9AAAB8">
                <a:alpha val="30000"/>
              </a:srgbClr>
            </a:outerShdw>
          </a:effectLst>
        </p:spPr>
      </p:sp>
      <p:sp>
        <p:nvSpPr>
          <p:cNvPr id="38" name="Text 36"/>
          <p:cNvSpPr txBox="1"/>
          <p:nvPr/>
        </p:nvSpPr>
        <p:spPr>
          <a:xfrm>
            <a:off x="8229600" y="4480560"/>
            <a:ext cx="2743200" cy="7772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PYNQ-Z2 Board</a:t>
            </a:r>
            <a:endParaRPr lang="en-US" sz="12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(xc7z020clg400-1)</a:t>
            </a:r>
            <a:endParaRPr lang="en-US" sz="1250" dirty="0"/>
          </a:p>
        </p:txBody>
      </p:sp>
      <p:sp>
        <p:nvSpPr>
          <p:cNvPr id="39" name="Text 37"/>
          <p:cNvSpPr txBox="1"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30% Steps Completed — Software &amp; HLS Foundation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development and per-layer hardware design (Part 1 of 2)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63624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1E8E6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5636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1508760"/>
            <a:ext cx="10451592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13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baseline (tanh + average-pool) and ReLU + MaxPool LeNet-5 models in Keras (98.47% test accuracy).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48640" y="2363724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1E8E6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23637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2308860"/>
            <a:ext cx="10451592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13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manual NumPy inference for every layer from first principles; verified bit-level match against Keras (~1e-6 error).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48640" y="3163824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1E8E6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31638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3108960"/>
            <a:ext cx="10451592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13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 software quantization pipeline — compared Float32, Fixed16&lt;13,3&gt;, INT8, and INT4 on accuracy and memory footprint.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548640" y="3963924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1E8E6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39639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097280" y="3909060"/>
            <a:ext cx="10451592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13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real integer-arithmetic (int8×int8→int32) inference in Python and verified it end-to-end against the trained model.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548640" y="4764024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1E8E6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47640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097280" y="4709160"/>
            <a:ext cx="10451592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13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all 7 LeNet-5 layers as individual Vitis HLS IP cores: C1, S2, C3, S4, C5, F6, Output.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548640" y="5564124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1E8E6B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48640" y="55641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097280" y="5509260"/>
            <a:ext cx="10451592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13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the reference paper's optimization techniques — line-buffer streaming, on-chip array partitioning, and 8-PE systolic arrays — reaching fully-pipelined (II=1) designs.</a:t>
            </a:r>
            <a:endParaRPr lang="en-US" sz="1450" dirty="0"/>
          </a:p>
        </p:txBody>
      </p:sp>
      <p:sp>
        <p:nvSpPr>
          <p:cNvPr id="22" name="Text 20"/>
          <p:cNvSpPr txBox="1"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30% Steps Completed — System Integration &amp; Hardware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individual IP cores to a working, board-verified bitstream (Part 2 of 2)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63624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1E8E6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5636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1508760"/>
            <a:ext cx="10451592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13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Converted all seven layers to AXI4 / AXI4-Lite interfaces for system-level integration with the processor.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48640" y="2363724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1E8E6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23637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2308860"/>
            <a:ext cx="10451592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13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all 7 layers into one accelerator (lenet5_top); verified against a real MNIST image and real trained weights.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48640" y="3163824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1E8E6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31638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3108960"/>
            <a:ext cx="10451592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13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 complete Vivado block design: Zynq Processing System + AXI interconnect + the custom accelerator IP.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548640" y="3963924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1E8E6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39639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097280" y="3909060"/>
            <a:ext cx="10451592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13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and verified a real, timing-closed Float32 bitstream for the actual target board — PYNQ-Z2 (xc7z020clg400-1).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548640" y="4764024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1E8E6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47640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097280" y="4709160"/>
            <a:ext cx="10451592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13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project guide's direction: converted all 7 layers to real INT8 / INT32 hardware arithmetic, bit-exact verified against the Python reference.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548640" y="5564124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1E8E6B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48640" y="55641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097280" y="5509260"/>
            <a:ext cx="10451592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13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all 7 INT8 layers and generated a second complete, timing-closed bitstream for PYNQ-Z2.</a:t>
            </a:r>
            <a:endParaRPr lang="en-US" sz="1450" dirty="0"/>
          </a:p>
        </p:txBody>
      </p:sp>
      <p:sp>
        <p:nvSpPr>
          <p:cNvPr id="22" name="Text 20"/>
          <p:cNvSpPr txBox="1"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— Software Quantization Comparison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ReLU + MaxPool LeNet-5, evaluated on 500 real MNIST test images (pure Python / NumPy, no hardware)</a:t>
            </a:r>
            <a:endParaRPr lang="en-US" sz="1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691640"/>
          <a:ext cx="10725912" cy="2743200"/>
        </p:xfrm>
        <a:graphic>
          <a:graphicData uri="http://schemas.openxmlformats.org/drawingml/2006/table">
            <a:tbl>
              <a:tblPr/>
              <a:tblGrid>
                <a:gridCol w="3108960"/>
                <a:gridCol w="2011680"/>
                <a:gridCol w="2011680"/>
                <a:gridCol w="3776472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1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Accuracy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1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Memory Used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1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15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3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Float32 (baseline)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3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98.00%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3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241.04 KB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3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Reference — no quantization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3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Fixed16 &lt;13,3&gt; (paper's format)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3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97.20%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3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120.52 KB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3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Fixed global scale for all layers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3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INT8  (chosen)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3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98.20%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3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60.26 KB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3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Per-layer scale factor — matches Float32 accuracy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3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3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98.00%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3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30.13 KB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3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Smallest, small accuracy cost vs. INT8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31520" y="4709160"/>
            <a:ext cx="10725912" cy="868680"/>
          </a:xfrm>
          <a:prstGeom prst="roundRect">
            <a:avLst>
              <a:gd name="adj" fmla="val 10526"/>
            </a:avLst>
          </a:prstGeom>
          <a:solidFill>
            <a:srgbClr val="E9FBF6"/>
          </a:solidFill>
          <a:ln w="12700">
            <a:solidFill>
              <a:srgbClr val="1E8E6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914400" y="4709160"/>
            <a:ext cx="103601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8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INT8 matches Float32 accuracy exactly (98.2% vs. 98.0%) while using only 25% of the memory.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— Per-Layer Hardware Comparison (Float32 → INT8)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Vitis HLS synthesis reports for each layer, individually built and bit-exact verified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691640"/>
            <a:ext cx="11640312" cy="475488"/>
          </a:xfrm>
          <a:prstGeom prst="rect">
            <a:avLst/>
          </a:prstGeom>
          <a:solidFill>
            <a:srgbClr val="13315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1691640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3566160" y="1691640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LUT Change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577840" y="1691640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 Change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589520" y="1691640"/>
            <a:ext cx="2606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Change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0195560" y="1691640"/>
            <a:ext cx="21762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 (100 MHz)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31520" y="2167128"/>
            <a:ext cx="11640312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2167128"/>
            <a:ext cx="2834640" cy="475488"/>
          </a:xfrm>
          <a:prstGeom prst="rect">
            <a:avLst/>
          </a:prstGeom>
          <a:noFill/>
          <a:ln/>
        </p:spPr>
        <p:txBody>
          <a:bodyPr wrap="square" lIns="0" tIns="127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3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 (Convolution)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3566160" y="2167128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3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−18%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5577840" y="2167128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3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−66%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7589520" y="2167128"/>
            <a:ext cx="2606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3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−14% (faster)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10195560" y="2167128"/>
            <a:ext cx="21762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8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Failed → Met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31520" y="2642616"/>
            <a:ext cx="11640312" cy="475488"/>
          </a:xfrm>
          <a:prstGeom prst="rect">
            <a:avLst/>
          </a:prstGeom>
          <a:solidFill>
            <a:srgbClr val="F0F4F8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31520" y="2642616"/>
            <a:ext cx="2834640" cy="475488"/>
          </a:xfrm>
          <a:prstGeom prst="rect">
            <a:avLst/>
          </a:prstGeom>
          <a:noFill/>
          <a:ln/>
        </p:spPr>
        <p:txBody>
          <a:bodyPr wrap="square" lIns="0" tIns="127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3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C3 (Convolution)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3566160" y="2642616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3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−21%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5577840" y="2642616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3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−49%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7589520" y="2642616"/>
            <a:ext cx="2606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3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−6% (faster)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10195560" y="2642616"/>
            <a:ext cx="21762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8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Failed → Met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731520" y="3118104"/>
            <a:ext cx="11640312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31520" y="3118104"/>
            <a:ext cx="2834640" cy="475488"/>
          </a:xfrm>
          <a:prstGeom prst="rect">
            <a:avLst/>
          </a:prstGeom>
          <a:noFill/>
          <a:ln/>
        </p:spPr>
        <p:txBody>
          <a:bodyPr wrap="square" lIns="0" tIns="127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3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 (Pooling)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3566160" y="3118104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3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−37%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5577840" y="3118104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3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−73%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7589520" y="3118104"/>
            <a:ext cx="2606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3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~unchanged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10195560" y="3118104"/>
            <a:ext cx="21762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8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 → Met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731520" y="3593592"/>
            <a:ext cx="11640312" cy="475488"/>
          </a:xfrm>
          <a:prstGeom prst="rect">
            <a:avLst/>
          </a:prstGeom>
          <a:solidFill>
            <a:srgbClr val="F0F4F8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31520" y="3593592"/>
            <a:ext cx="2834640" cy="475488"/>
          </a:xfrm>
          <a:prstGeom prst="rect">
            <a:avLst/>
          </a:prstGeom>
          <a:noFill/>
          <a:ln/>
        </p:spPr>
        <p:txBody>
          <a:bodyPr wrap="square" lIns="0" tIns="127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3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S4 (Pooling)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3566160" y="3593592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3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−40%</a:t>
            </a:r>
            <a:endParaRPr lang="en-US" sz="1250" dirty="0"/>
          </a:p>
        </p:txBody>
      </p:sp>
      <p:sp>
        <p:nvSpPr>
          <p:cNvPr id="31" name="Text 29"/>
          <p:cNvSpPr txBox="1"/>
          <p:nvPr/>
        </p:nvSpPr>
        <p:spPr>
          <a:xfrm>
            <a:off x="5577840" y="3593592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3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−74%</a:t>
            </a:r>
            <a:endParaRPr lang="en-US" sz="1250" dirty="0"/>
          </a:p>
        </p:txBody>
      </p:sp>
      <p:sp>
        <p:nvSpPr>
          <p:cNvPr id="32" name="Text 30"/>
          <p:cNvSpPr txBox="1"/>
          <p:nvPr/>
        </p:nvSpPr>
        <p:spPr>
          <a:xfrm>
            <a:off x="7589520" y="3593592"/>
            <a:ext cx="2606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3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~unchanged</a:t>
            </a:r>
            <a:endParaRPr lang="en-US" sz="1250" dirty="0"/>
          </a:p>
        </p:txBody>
      </p:sp>
      <p:sp>
        <p:nvSpPr>
          <p:cNvPr id="33" name="Text 31"/>
          <p:cNvSpPr txBox="1"/>
          <p:nvPr/>
        </p:nvSpPr>
        <p:spPr>
          <a:xfrm>
            <a:off x="10195560" y="3593592"/>
            <a:ext cx="21762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8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 → Met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731520" y="4069080"/>
            <a:ext cx="11640312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31520" y="4069080"/>
            <a:ext cx="2834640" cy="475488"/>
          </a:xfrm>
          <a:prstGeom prst="rect">
            <a:avLst/>
          </a:prstGeom>
          <a:noFill/>
          <a:ln/>
        </p:spPr>
        <p:txBody>
          <a:bodyPr wrap="square" lIns="0" tIns="127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3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C5 (Dense)</a:t>
            </a:r>
            <a:endParaRPr lang="en-US" sz="1250" dirty="0"/>
          </a:p>
        </p:txBody>
      </p:sp>
      <p:sp>
        <p:nvSpPr>
          <p:cNvPr id="36" name="Text 34"/>
          <p:cNvSpPr txBox="1"/>
          <p:nvPr/>
        </p:nvSpPr>
        <p:spPr>
          <a:xfrm>
            <a:off x="3566160" y="4069080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3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−19%</a:t>
            </a:r>
            <a:endParaRPr lang="en-US" sz="1250" dirty="0"/>
          </a:p>
        </p:txBody>
      </p:sp>
      <p:sp>
        <p:nvSpPr>
          <p:cNvPr id="37" name="Text 35"/>
          <p:cNvSpPr txBox="1"/>
          <p:nvPr/>
        </p:nvSpPr>
        <p:spPr>
          <a:xfrm>
            <a:off x="5577840" y="4069080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3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−60%</a:t>
            </a:r>
            <a:endParaRPr lang="en-US" sz="1250" dirty="0"/>
          </a:p>
        </p:txBody>
      </p:sp>
      <p:sp>
        <p:nvSpPr>
          <p:cNvPr id="38" name="Text 36"/>
          <p:cNvSpPr txBox="1"/>
          <p:nvPr/>
        </p:nvSpPr>
        <p:spPr>
          <a:xfrm>
            <a:off x="7589520" y="4069080"/>
            <a:ext cx="2606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3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−46% (faster)</a:t>
            </a:r>
            <a:endParaRPr lang="en-US" sz="1250" dirty="0"/>
          </a:p>
        </p:txBody>
      </p:sp>
      <p:sp>
        <p:nvSpPr>
          <p:cNvPr id="39" name="Text 37"/>
          <p:cNvSpPr txBox="1"/>
          <p:nvPr/>
        </p:nvSpPr>
        <p:spPr>
          <a:xfrm>
            <a:off x="10195560" y="4069080"/>
            <a:ext cx="21762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8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Failed → Met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731520" y="4544568"/>
            <a:ext cx="11640312" cy="475488"/>
          </a:xfrm>
          <a:prstGeom prst="rect">
            <a:avLst/>
          </a:prstGeom>
          <a:solidFill>
            <a:srgbClr val="F0F4F8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731520" y="4544568"/>
            <a:ext cx="2834640" cy="475488"/>
          </a:xfrm>
          <a:prstGeom prst="rect">
            <a:avLst/>
          </a:prstGeom>
          <a:noFill/>
          <a:ln/>
        </p:spPr>
        <p:txBody>
          <a:bodyPr wrap="square" lIns="0" tIns="127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3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F6 (Dense)</a:t>
            </a:r>
            <a:endParaRPr lang="en-US" sz="1250" dirty="0"/>
          </a:p>
        </p:txBody>
      </p:sp>
      <p:sp>
        <p:nvSpPr>
          <p:cNvPr id="42" name="Text 40"/>
          <p:cNvSpPr txBox="1"/>
          <p:nvPr/>
        </p:nvSpPr>
        <p:spPr>
          <a:xfrm>
            <a:off x="3566160" y="4544568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3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−12%</a:t>
            </a:r>
            <a:endParaRPr lang="en-US" sz="1250" dirty="0"/>
          </a:p>
        </p:txBody>
      </p:sp>
      <p:sp>
        <p:nvSpPr>
          <p:cNvPr id="43" name="Text 41"/>
          <p:cNvSpPr txBox="1"/>
          <p:nvPr/>
        </p:nvSpPr>
        <p:spPr>
          <a:xfrm>
            <a:off x="5577840" y="4544568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3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−47%</a:t>
            </a:r>
            <a:endParaRPr lang="en-US" sz="1250" dirty="0"/>
          </a:p>
        </p:txBody>
      </p:sp>
      <p:sp>
        <p:nvSpPr>
          <p:cNvPr id="44" name="Text 42"/>
          <p:cNvSpPr txBox="1"/>
          <p:nvPr/>
        </p:nvSpPr>
        <p:spPr>
          <a:xfrm>
            <a:off x="7589520" y="4544568"/>
            <a:ext cx="2606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3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−36% (faster)</a:t>
            </a:r>
            <a:endParaRPr lang="en-US" sz="1250" dirty="0"/>
          </a:p>
        </p:txBody>
      </p:sp>
      <p:sp>
        <p:nvSpPr>
          <p:cNvPr id="45" name="Text 43"/>
          <p:cNvSpPr txBox="1"/>
          <p:nvPr/>
        </p:nvSpPr>
        <p:spPr>
          <a:xfrm>
            <a:off x="10195560" y="4544568"/>
            <a:ext cx="21762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8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Failed → Met</a:t>
            </a:r>
            <a:endParaRPr lang="en-US" sz="1250" dirty="0"/>
          </a:p>
        </p:txBody>
      </p:sp>
      <p:sp>
        <p:nvSpPr>
          <p:cNvPr id="46" name="Shape 44"/>
          <p:cNvSpPr/>
          <p:nvPr/>
        </p:nvSpPr>
        <p:spPr>
          <a:xfrm>
            <a:off x="731520" y="5020056"/>
            <a:ext cx="11640312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731520" y="5020056"/>
            <a:ext cx="2834640" cy="475488"/>
          </a:xfrm>
          <a:prstGeom prst="rect">
            <a:avLst/>
          </a:prstGeom>
          <a:noFill/>
          <a:ln/>
        </p:spPr>
        <p:txBody>
          <a:bodyPr wrap="square" lIns="0" tIns="127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3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(Softmax)</a:t>
            </a:r>
            <a:endParaRPr lang="en-US" sz="1250" dirty="0"/>
          </a:p>
        </p:txBody>
      </p:sp>
      <p:sp>
        <p:nvSpPr>
          <p:cNvPr id="48" name="Text 46"/>
          <p:cNvSpPr txBox="1"/>
          <p:nvPr/>
        </p:nvSpPr>
        <p:spPr>
          <a:xfrm>
            <a:off x="3566160" y="5020056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3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−20%</a:t>
            </a:r>
            <a:endParaRPr lang="en-US" sz="1250" dirty="0"/>
          </a:p>
        </p:txBody>
      </p:sp>
      <p:sp>
        <p:nvSpPr>
          <p:cNvPr id="49" name="Text 47"/>
          <p:cNvSpPr txBox="1"/>
          <p:nvPr/>
        </p:nvSpPr>
        <p:spPr>
          <a:xfrm>
            <a:off x="5577840" y="5020056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3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−34%</a:t>
            </a:r>
            <a:endParaRPr lang="en-US" sz="1250" dirty="0"/>
          </a:p>
        </p:txBody>
      </p:sp>
      <p:sp>
        <p:nvSpPr>
          <p:cNvPr id="50" name="Text 48"/>
          <p:cNvSpPr txBox="1"/>
          <p:nvPr/>
        </p:nvSpPr>
        <p:spPr>
          <a:xfrm>
            <a:off x="7589520" y="5020056"/>
            <a:ext cx="2606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3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−32% (faster)</a:t>
            </a:r>
            <a:endParaRPr lang="en-US" sz="1250" dirty="0"/>
          </a:p>
        </p:txBody>
      </p:sp>
      <p:sp>
        <p:nvSpPr>
          <p:cNvPr id="51" name="Text 49"/>
          <p:cNvSpPr txBox="1"/>
          <p:nvPr/>
        </p:nvSpPr>
        <p:spPr>
          <a:xfrm>
            <a:off x="10195560" y="5020056"/>
            <a:ext cx="21762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8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Failed → Met</a:t>
            </a:r>
            <a:endParaRPr lang="en-US" sz="1250" dirty="0"/>
          </a:p>
        </p:txBody>
      </p:sp>
      <p:sp>
        <p:nvSpPr>
          <p:cNvPr id="52" name="Text 50"/>
          <p:cNvSpPr txBox="1"/>
          <p:nvPr/>
        </p:nvSpPr>
        <p:spPr>
          <a:xfrm>
            <a:off x="731520" y="5724144"/>
            <a:ext cx="11640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of 7 layers failed the 100 MHz timing target in Float32 — all 7 pass in INT8.</a:t>
            </a:r>
            <a:endParaRPr lang="en-US" sz="1500" dirty="0"/>
          </a:p>
        </p:txBody>
      </p:sp>
      <p:sp>
        <p:nvSpPr>
          <p:cNvPr id="53" name="Text 51"/>
          <p:cNvSpPr txBox="1"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— Final Bitstream, Full System (PYNQ-Z2)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F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Vivado place-and-route results — both bitstreams meet timing with zero failing paths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53796" y="1828800"/>
            <a:ext cx="2514600" cy="2743200"/>
          </a:xfrm>
          <a:prstGeom prst="roundRect">
            <a:avLst>
              <a:gd name="adj" fmla="val 4364"/>
            </a:avLst>
          </a:prstGeom>
          <a:solidFill>
            <a:srgbClr val="13315C"/>
          </a:solidFill>
          <a:ln/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90956" y="201168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F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LUT Usage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90956" y="269748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Float32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790956" y="292608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55.3%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790956" y="352044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INT8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90956" y="374904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C2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31.8%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3442716" y="1828800"/>
            <a:ext cx="2514600" cy="2743200"/>
          </a:xfrm>
          <a:prstGeom prst="roundRect">
            <a:avLst>
              <a:gd name="adj" fmla="val 4364"/>
            </a:avLst>
          </a:prstGeom>
          <a:solidFill>
            <a:srgbClr val="13315C"/>
          </a:solidFill>
          <a:ln/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3579876" y="201168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F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Flip-Flop (FF) Usage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3579876" y="269748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Float32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3579876" y="292608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38.6%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3579876" y="352044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INT8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3579876" y="374904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C2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21.2%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6231636" y="1828800"/>
            <a:ext cx="2514600" cy="2743200"/>
          </a:xfrm>
          <a:prstGeom prst="roundRect">
            <a:avLst>
              <a:gd name="adj" fmla="val 4364"/>
            </a:avLst>
          </a:prstGeom>
          <a:solidFill>
            <a:srgbClr val="13315C"/>
          </a:solidFill>
          <a:ln/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6368796" y="201168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F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On-Chip Memory (BRAM)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368796" y="269748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Float32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6368796" y="292608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85.4%</a:t>
            </a:r>
            <a:endParaRPr lang="en-US" sz="2400" dirty="0"/>
          </a:p>
        </p:txBody>
      </p:sp>
      <p:sp>
        <p:nvSpPr>
          <p:cNvPr id="20" name="Text 18"/>
          <p:cNvSpPr txBox="1"/>
          <p:nvPr/>
        </p:nvSpPr>
        <p:spPr>
          <a:xfrm>
            <a:off x="6368796" y="352044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INT8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6368796" y="374904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C2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25.7%</a:t>
            </a:r>
            <a:endParaRPr lang="en-US" sz="2600" dirty="0"/>
          </a:p>
        </p:txBody>
      </p:sp>
      <p:sp>
        <p:nvSpPr>
          <p:cNvPr id="22" name="Shape 20"/>
          <p:cNvSpPr/>
          <p:nvPr/>
        </p:nvSpPr>
        <p:spPr>
          <a:xfrm>
            <a:off x="9020556" y="1828800"/>
            <a:ext cx="2514600" cy="2743200"/>
          </a:xfrm>
          <a:prstGeom prst="roundRect">
            <a:avLst>
              <a:gd name="adj" fmla="val 4364"/>
            </a:avLst>
          </a:prstGeom>
          <a:solidFill>
            <a:srgbClr val="13315C"/>
          </a:solidFill>
          <a:ln/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9157716" y="201168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F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 Margin (WNS)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9157716" y="269748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Float32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9157716" y="292608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+0.033 ns</a:t>
            </a:r>
            <a:endParaRPr lang="en-US" sz="2400" dirty="0"/>
          </a:p>
        </p:txBody>
      </p:sp>
      <p:sp>
        <p:nvSpPr>
          <p:cNvPr id="26" name="Text 24"/>
          <p:cNvSpPr txBox="1"/>
          <p:nvPr/>
        </p:nvSpPr>
        <p:spPr>
          <a:xfrm>
            <a:off x="9157716" y="352044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INT8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9157716" y="374904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C2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+0.121 ns</a:t>
            </a:r>
            <a:endParaRPr lang="en-US" sz="2600" dirty="0"/>
          </a:p>
        </p:txBody>
      </p:sp>
      <p:sp>
        <p:nvSpPr>
          <p:cNvPr id="28" name="Text 26"/>
          <p:cNvSpPr txBox="1"/>
          <p:nvPr/>
        </p:nvSpPr>
        <p:spPr>
          <a:xfrm>
            <a:off x="822960" y="4892040"/>
            <a:ext cx="105430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CF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bitstreams are correct and timing-closed. INT8 uses substantially less chip area (LUT, FF, BRAM) and runs with a more comfortable timing margin than Float32.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822960" y="5532120"/>
            <a:ext cx="10543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F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Board: PYNQ-Z2  —  Chip: Xilinx Zynq-7020 (xc7z020clg400-1)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Remaining Work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60020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9050">
            <a:solidFill>
              <a:srgbClr val="00C2A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325880" y="1554480"/>
            <a:ext cx="102229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3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PYNQ Jupyter Notebook interface — load the bitstream and run live inference directly from Python.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51460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9050">
            <a:solidFill>
              <a:srgbClr val="00C2A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2514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325880" y="2468880"/>
            <a:ext cx="102229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3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deployment and testing on real PYNQ-Z2 hardware, once board access is available.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342900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9050">
            <a:solidFill>
              <a:srgbClr val="00C2A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3429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3383280"/>
            <a:ext cx="102229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3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Minor AXI bundling optimization for the combined INT8 design (separating weight/bias data paths) to recover further LUT savings.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40080" y="434340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9050">
            <a:solidFill>
              <a:srgbClr val="00C2A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4343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4297680"/>
            <a:ext cx="102229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3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Processing-element count sweep (PE = 1, 2, 4) to complete the resource-vs-parallelism trade-off curve.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40080" y="525780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9050">
            <a:solidFill>
              <a:srgbClr val="00C2A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" y="5257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325880" y="5212080"/>
            <a:ext cx="102229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3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testing with external, non-MNIST images on real hardware.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2026-09-16T09:10:48Z</dcterms:created>
  <dcterms:modified xsi:type="dcterms:W3CDTF">2026-09-16T09:10:48Z</dcterms:modified>
</cp:coreProperties>
</file>